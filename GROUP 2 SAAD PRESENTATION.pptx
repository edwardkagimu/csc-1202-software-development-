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64" d="100"/>
          <a:sy n="64" d="100"/>
        </p:scale>
        <p:origin x="1426" y="37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4EC8C-F4C7-430E-B61C-233E873ACB85}" type="datetimeFigureOut">
              <a:rPr lang="en-UG" smtClean="0"/>
              <a:t>08/03/2026</a:t>
            </a:fld>
            <a:endParaRPr lang="en-U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42B05-BC6F-425B-801C-488E4839202E}" type="slidenum">
              <a:rPr lang="en-UG" smtClean="0"/>
              <a:t>‹#›</a:t>
            </a:fld>
            <a:endParaRPr lang="en-UG"/>
          </a:p>
        </p:txBody>
      </p:sp>
    </p:spTree>
    <p:extLst>
      <p:ext uri="{BB962C8B-B14F-4D97-AF65-F5344CB8AC3E}">
        <p14:creationId xmlns:p14="http://schemas.microsoft.com/office/powerpoint/2010/main" val="1453569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20542B05-BC6F-425B-801C-488E4839202E}" type="slidenum">
              <a:rPr lang="en-UG" smtClean="0"/>
              <a:t>7</a:t>
            </a:fld>
            <a:endParaRPr lang="en-UG"/>
          </a:p>
        </p:txBody>
      </p:sp>
    </p:spTree>
    <p:extLst>
      <p:ext uri="{BB962C8B-B14F-4D97-AF65-F5344CB8AC3E}">
        <p14:creationId xmlns:p14="http://schemas.microsoft.com/office/powerpoint/2010/main" val="1093131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B4AF36-9EE5-4AFC-B14E-2E445EE14158}" type="datetimeFigureOut">
              <a:rPr lang="en-UG" smtClean="0"/>
              <a:t>07/03/2026</a:t>
            </a:fld>
            <a:endParaRPr lang="en-UG"/>
          </a:p>
        </p:txBody>
      </p:sp>
      <p:sp>
        <p:nvSpPr>
          <p:cNvPr id="5" name="Footer Placeholder 4"/>
          <p:cNvSpPr>
            <a:spLocks noGrp="1"/>
          </p:cNvSpPr>
          <p:nvPr>
            <p:ph type="ftr" sz="quarter" idx="11"/>
          </p:nvPr>
        </p:nvSpPr>
        <p:spPr/>
        <p:txBody>
          <a:bodyPr/>
          <a:lstStyle/>
          <a:p>
            <a:endParaRPr lang="en-UG"/>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1134514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B4AF36-9EE5-4AFC-B14E-2E445EE14158}" type="datetimeFigureOut">
              <a:rPr lang="en-UG" smtClean="0"/>
              <a:t>07/03/2026</a:t>
            </a:fld>
            <a:endParaRPr lang="en-UG"/>
          </a:p>
        </p:txBody>
      </p:sp>
      <p:sp>
        <p:nvSpPr>
          <p:cNvPr id="5" name="Footer Placeholder 4"/>
          <p:cNvSpPr>
            <a:spLocks noGrp="1"/>
          </p:cNvSpPr>
          <p:nvPr>
            <p:ph type="ftr" sz="quarter" idx="11"/>
          </p:nvPr>
        </p:nvSpPr>
        <p:spPr/>
        <p:txBody>
          <a:bodyPr/>
          <a:lstStyle/>
          <a:p>
            <a:endParaRPr lang="en-U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240699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B4AF36-9EE5-4AFC-B14E-2E445EE14158}" type="datetimeFigureOut">
              <a:rPr lang="en-UG" smtClean="0"/>
              <a:t>07/03/2026</a:t>
            </a:fld>
            <a:endParaRPr lang="en-UG"/>
          </a:p>
        </p:txBody>
      </p:sp>
      <p:sp>
        <p:nvSpPr>
          <p:cNvPr id="5" name="Footer Placeholder 4"/>
          <p:cNvSpPr>
            <a:spLocks noGrp="1"/>
          </p:cNvSpPr>
          <p:nvPr>
            <p:ph type="ftr" sz="quarter" idx="11"/>
          </p:nvPr>
        </p:nvSpPr>
        <p:spPr/>
        <p:txBody>
          <a:bodyPr/>
          <a:lstStyle/>
          <a:p>
            <a:endParaRPr lang="en-U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251655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B4AF36-9EE5-4AFC-B14E-2E445EE14158}" type="datetimeFigureOut">
              <a:rPr lang="en-UG" smtClean="0"/>
              <a:t>07/03/2026</a:t>
            </a:fld>
            <a:endParaRPr lang="en-UG"/>
          </a:p>
        </p:txBody>
      </p:sp>
      <p:sp>
        <p:nvSpPr>
          <p:cNvPr id="6" name="Footer Placeholder 5"/>
          <p:cNvSpPr>
            <a:spLocks noGrp="1"/>
          </p:cNvSpPr>
          <p:nvPr>
            <p:ph type="ftr" sz="quarter" idx="11"/>
          </p:nvPr>
        </p:nvSpPr>
        <p:spPr/>
        <p:txBody>
          <a:bodyPr/>
          <a:lstStyle/>
          <a:p>
            <a:endParaRPr lang="en-UG"/>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413922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B4AF36-9EE5-4AFC-B14E-2E445EE14158}" type="datetimeFigureOut">
              <a:rPr lang="en-UG" smtClean="0"/>
              <a:t>07/03/2026</a:t>
            </a:fld>
            <a:endParaRPr lang="en-UG"/>
          </a:p>
        </p:txBody>
      </p:sp>
      <p:sp>
        <p:nvSpPr>
          <p:cNvPr id="8" name="Footer Placeholder 7"/>
          <p:cNvSpPr>
            <a:spLocks noGrp="1"/>
          </p:cNvSpPr>
          <p:nvPr>
            <p:ph type="ftr" sz="quarter" idx="11"/>
          </p:nvPr>
        </p:nvSpPr>
        <p:spPr/>
        <p:txBody>
          <a:bodyPr/>
          <a:lstStyle/>
          <a:p>
            <a:endParaRPr lang="en-UG"/>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1530227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B4AF36-9EE5-4AFC-B14E-2E445EE14158}" type="datetimeFigureOut">
              <a:rPr lang="en-UG" smtClean="0"/>
              <a:t>07/03/2026</a:t>
            </a:fld>
            <a:endParaRPr lang="en-UG"/>
          </a:p>
        </p:txBody>
      </p:sp>
      <p:sp>
        <p:nvSpPr>
          <p:cNvPr id="4" name="Footer Placeholder 3"/>
          <p:cNvSpPr>
            <a:spLocks noGrp="1"/>
          </p:cNvSpPr>
          <p:nvPr>
            <p:ph type="ftr" sz="quarter" idx="11"/>
          </p:nvPr>
        </p:nvSpPr>
        <p:spPr/>
        <p:txBody>
          <a:bodyPr/>
          <a:lstStyle/>
          <a:p>
            <a:endParaRPr lang="en-UG"/>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3268675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4AF36-9EE5-4AFC-B14E-2E445EE14158}" type="datetimeFigureOut">
              <a:rPr lang="en-UG" smtClean="0"/>
              <a:t>07/03/2026</a:t>
            </a:fld>
            <a:endParaRPr lang="en-UG"/>
          </a:p>
        </p:txBody>
      </p:sp>
      <p:sp>
        <p:nvSpPr>
          <p:cNvPr id="3" name="Footer Placeholder 2"/>
          <p:cNvSpPr>
            <a:spLocks noGrp="1"/>
          </p:cNvSpPr>
          <p:nvPr>
            <p:ph type="ftr" sz="quarter" idx="11"/>
          </p:nvPr>
        </p:nvSpPr>
        <p:spPr/>
        <p:txBody>
          <a:bodyPr/>
          <a:lstStyle/>
          <a:p>
            <a:endParaRPr lang="en-UG"/>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1042190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B4AF36-9EE5-4AFC-B14E-2E445EE14158}" type="datetimeFigureOut">
              <a:rPr lang="en-UG" smtClean="0"/>
              <a:t>07/03/2026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4277118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B4AF36-9EE5-4AFC-B14E-2E445EE14158}" type="datetimeFigureOut">
              <a:rPr lang="en-UG" smtClean="0"/>
              <a:t>07/03/2026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2209135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B4AF36-9EE5-4AFC-B14E-2E445EE14158}" type="datetimeFigureOut">
              <a:rPr lang="en-UG" smtClean="0"/>
              <a:t>07/03/2026</a:t>
            </a:fld>
            <a:endParaRPr lang="en-UG"/>
          </a:p>
        </p:txBody>
      </p:sp>
      <p:sp>
        <p:nvSpPr>
          <p:cNvPr id="5" name="Footer Placeholder 4"/>
          <p:cNvSpPr>
            <a:spLocks noGrp="1"/>
          </p:cNvSpPr>
          <p:nvPr>
            <p:ph type="ftr" sz="quarter" idx="11"/>
          </p:nvPr>
        </p:nvSpPr>
        <p:spPr/>
        <p:txBody>
          <a:bodyPr/>
          <a:lstStyle/>
          <a:p>
            <a:endParaRPr lang="en-U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2579181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B4AF36-9EE5-4AFC-B14E-2E445EE14158}" type="datetimeFigureOut">
              <a:rPr lang="en-UG" smtClean="0"/>
              <a:t>07/03/2026</a:t>
            </a:fld>
            <a:endParaRPr lang="en-UG"/>
          </a:p>
        </p:txBody>
      </p:sp>
      <p:sp>
        <p:nvSpPr>
          <p:cNvPr id="5" name="Footer Placeholder 4"/>
          <p:cNvSpPr>
            <a:spLocks noGrp="1"/>
          </p:cNvSpPr>
          <p:nvPr>
            <p:ph type="ftr" sz="quarter" idx="11"/>
          </p:nvPr>
        </p:nvSpPr>
        <p:spPr/>
        <p:txBody>
          <a:bodyPr/>
          <a:lstStyle/>
          <a:p>
            <a:endParaRPr lang="en-UG"/>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213DF13-11C2-4D91-B1FB-323B3824ECD5}" type="slidenum">
              <a:rPr lang="en-UG" smtClean="0"/>
              <a:t>‹#›</a:t>
            </a:fld>
            <a:endParaRPr lang="en-UG"/>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78975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CB4AF36-9EE5-4AFC-B14E-2E445EE14158}" type="datetimeFigureOut">
              <a:rPr lang="en-UG" smtClean="0"/>
              <a:t>07/03/2026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3629570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CB4AF36-9EE5-4AFC-B14E-2E445EE14158}" type="datetimeFigureOut">
              <a:rPr lang="en-UG" smtClean="0"/>
              <a:t>07/03/2026</a:t>
            </a:fld>
            <a:endParaRPr lang="en-UG"/>
          </a:p>
        </p:txBody>
      </p:sp>
      <p:sp>
        <p:nvSpPr>
          <p:cNvPr id="6" name="Footer Placeholder 5"/>
          <p:cNvSpPr>
            <a:spLocks noGrp="1"/>
          </p:cNvSpPr>
          <p:nvPr>
            <p:ph type="ftr" sz="quarter" idx="11"/>
          </p:nvPr>
        </p:nvSpPr>
        <p:spPr/>
        <p:txBody>
          <a:bodyPr/>
          <a:lstStyle/>
          <a:p>
            <a:endParaRPr lang="en-UG"/>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213DF13-11C2-4D91-B1FB-323B3824ECD5}" type="slidenum">
              <a:rPr lang="en-UG" smtClean="0"/>
              <a:t>‹#›</a:t>
            </a:fld>
            <a:endParaRPr lang="en-UG"/>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42888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CB4AF36-9EE5-4AFC-B14E-2E445EE14158}" type="datetimeFigureOut">
              <a:rPr lang="en-UG" smtClean="0"/>
              <a:t>07/03/2026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3326760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B4AF36-9EE5-4AFC-B14E-2E445EE14158}" type="datetimeFigureOut">
              <a:rPr lang="en-UG" smtClean="0"/>
              <a:t>07/03/2026</a:t>
            </a:fld>
            <a:endParaRPr lang="en-UG"/>
          </a:p>
        </p:txBody>
      </p:sp>
      <p:sp>
        <p:nvSpPr>
          <p:cNvPr id="5" name="Footer Placeholder 4"/>
          <p:cNvSpPr>
            <a:spLocks noGrp="1"/>
          </p:cNvSpPr>
          <p:nvPr>
            <p:ph type="ftr" sz="quarter" idx="11"/>
          </p:nvPr>
        </p:nvSpPr>
        <p:spPr/>
        <p:txBody>
          <a:bodyPr/>
          <a:lstStyle/>
          <a:p>
            <a:endParaRPr lang="en-U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7334724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B4AF36-9EE5-4AFC-B14E-2E445EE14158}" type="datetimeFigureOut">
              <a:rPr lang="en-UG" smtClean="0"/>
              <a:t>07/03/2026</a:t>
            </a:fld>
            <a:endParaRPr lang="en-UG"/>
          </a:p>
        </p:txBody>
      </p:sp>
      <p:sp>
        <p:nvSpPr>
          <p:cNvPr id="5" name="Footer Placeholder 4"/>
          <p:cNvSpPr>
            <a:spLocks noGrp="1"/>
          </p:cNvSpPr>
          <p:nvPr>
            <p:ph type="ftr" sz="quarter" idx="11"/>
          </p:nvPr>
        </p:nvSpPr>
        <p:spPr/>
        <p:txBody>
          <a:bodyPr/>
          <a:lstStyle/>
          <a:p>
            <a:endParaRPr lang="en-U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213DF13-11C2-4D91-B1FB-323B3824ECD5}" type="slidenum">
              <a:rPr lang="en-UG" smtClean="0"/>
              <a:t>‹#›</a:t>
            </a:fld>
            <a:endParaRPr lang="en-UG"/>
          </a:p>
        </p:txBody>
      </p:sp>
    </p:spTree>
    <p:extLst>
      <p:ext uri="{BB962C8B-B14F-4D97-AF65-F5344CB8AC3E}">
        <p14:creationId xmlns:p14="http://schemas.microsoft.com/office/powerpoint/2010/main" val="1536271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CB4AF36-9EE5-4AFC-B14E-2E445EE14158}" type="datetimeFigureOut">
              <a:rPr lang="en-UG" smtClean="0"/>
              <a:t>07/03/2026</a:t>
            </a:fld>
            <a:endParaRPr lang="en-UG"/>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G"/>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213DF13-11C2-4D91-B1FB-323B3824ECD5}" type="slidenum">
              <a:rPr lang="en-UG" smtClean="0"/>
              <a:t>‹#›</a:t>
            </a:fld>
            <a:endParaRPr lang="en-UG"/>
          </a:p>
        </p:txBody>
      </p:sp>
    </p:spTree>
    <p:extLst>
      <p:ext uri="{BB962C8B-B14F-4D97-AF65-F5344CB8AC3E}">
        <p14:creationId xmlns:p14="http://schemas.microsoft.com/office/powerpoint/2010/main" val="1658552862"/>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6D7A1-73EF-AF6D-D690-8F39EF74DCFF}"/>
              </a:ext>
            </a:extLst>
          </p:cNvPr>
          <p:cNvSpPr>
            <a:spLocks noGrp="1"/>
          </p:cNvSpPr>
          <p:nvPr>
            <p:ph type="title"/>
          </p:nvPr>
        </p:nvSpPr>
        <p:spPr/>
        <p:txBody>
          <a:bodyPr>
            <a:noAutofit/>
          </a:bodyPr>
          <a:lstStyle/>
          <a:p>
            <a:r>
              <a:rPr lang="en-US" sz="3600" dirty="0">
                <a:latin typeface="Times New Roman" panose="02020603050405020304" pitchFamily="18" charset="0"/>
                <a:cs typeface="Times New Roman" panose="02020603050405020304" pitchFamily="18" charset="0"/>
              </a:rPr>
              <a:t>GROUP 2: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SYSTEM ANALYSIS AND DESIGN PRESENTATION</a:t>
            </a:r>
            <a:endParaRPr lang="en-UG"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86FCCB-260D-BAF6-55C3-C7D7ADD43818}"/>
              </a:ext>
            </a:extLst>
          </p:cNvPr>
          <p:cNvSpPr>
            <a:spLocks noGrp="1"/>
          </p:cNvSpPr>
          <p:nvPr>
            <p:ph idx="1"/>
          </p:nvPr>
        </p:nvSpPr>
        <p:spPr>
          <a:xfrm>
            <a:off x="838200" y="2346157"/>
            <a:ext cx="10515600" cy="4146717"/>
          </a:xfrm>
        </p:spPr>
        <p:txBody>
          <a:bodyPr/>
          <a:lstStyle/>
          <a:p>
            <a:pPr marL="0" indent="0">
              <a:buNone/>
            </a:pPr>
            <a:r>
              <a:rPr lang="en-US" dirty="0">
                <a:latin typeface="Times New Roman" panose="02020603050405020304" pitchFamily="18" charset="0"/>
                <a:cs typeface="Times New Roman" panose="02020603050405020304" pitchFamily="18" charset="0"/>
              </a:rPr>
              <a:t>TOPIC FOUR: REQUIREMENT MODELLING</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Fact finding methods</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System requirement checklist</a:t>
            </a:r>
          </a:p>
          <a:p>
            <a:pPr marL="514350" indent="-514350">
              <a:buFont typeface="+mj-lt"/>
              <a:buAutoNum type="alphaLcParenR"/>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Group members</a:t>
            </a:r>
          </a:p>
          <a:p>
            <a:pPr marL="514350" indent="-514350">
              <a:buFont typeface="+mj-lt"/>
              <a:buAutoNum type="arabicPeriod"/>
            </a:pPr>
            <a:r>
              <a:rPr lang="en-US" dirty="0"/>
              <a:t>Chandiga Siraji            25/U/26195/EVE         2500726195</a:t>
            </a:r>
          </a:p>
          <a:p>
            <a:pPr marL="514350" indent="-514350">
              <a:buFont typeface="+mj-lt"/>
              <a:buAutoNum type="arabicPeriod"/>
            </a:pPr>
            <a:r>
              <a:rPr lang="en-US" dirty="0"/>
              <a:t>Kagimu Edward           25/U/03386/EVE         2500703386</a:t>
            </a:r>
          </a:p>
          <a:p>
            <a:pPr marL="514350" indent="-514350">
              <a:buFont typeface="+mj-lt"/>
              <a:buAutoNum type="arabicPeriod"/>
            </a:pPr>
            <a:r>
              <a:rPr lang="en-US" dirty="0"/>
              <a:t>Ssewajje Elvin Alex       25/U/03589/EVE         2500703589</a:t>
            </a:r>
          </a:p>
          <a:p>
            <a:pPr marL="514350" indent="-514350">
              <a:buFont typeface="+mj-lt"/>
              <a:buAutoNum type="arabicPeriod"/>
            </a:pPr>
            <a:r>
              <a:rPr lang="en-US" dirty="0"/>
              <a:t>Mary Micheal Eliaba   25/X/</a:t>
            </a:r>
            <a:r>
              <a:rPr lang="en-US"/>
              <a:t>03444                  </a:t>
            </a:r>
            <a:r>
              <a:rPr lang="en-US" dirty="0"/>
              <a:t>2500703444</a:t>
            </a:r>
          </a:p>
          <a:p>
            <a:pPr marL="514350" indent="-514350">
              <a:buFont typeface="+mj-lt"/>
              <a:buAutoNum type="arabicPeriod"/>
            </a:pPr>
            <a:endParaRPr lang="en-US" dirty="0"/>
          </a:p>
        </p:txBody>
      </p:sp>
    </p:spTree>
    <p:extLst>
      <p:ext uri="{BB962C8B-B14F-4D97-AF65-F5344CB8AC3E}">
        <p14:creationId xmlns:p14="http://schemas.microsoft.com/office/powerpoint/2010/main" val="1143081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7393-6FFE-0761-A2CD-98CA9712F995}"/>
              </a:ext>
            </a:extLst>
          </p:cNvPr>
          <p:cNvSpPr>
            <a:spLocks noGrp="1"/>
          </p:cNvSpPr>
          <p:nvPr>
            <p:ph type="title"/>
          </p:nvPr>
        </p:nvSpPr>
        <p:spPr>
          <a:xfrm>
            <a:off x="838200" y="365126"/>
            <a:ext cx="10515600" cy="745920"/>
          </a:xfrm>
        </p:spPr>
        <p:txBody>
          <a:bodyPr>
            <a:normAutofit/>
          </a:bodyPr>
          <a:lstStyle/>
          <a:p>
            <a:r>
              <a:rPr lang="en-US" sz="3200" dirty="0">
                <a:latin typeface="Times New Roman" panose="02020603050405020304" pitchFamily="18" charset="0"/>
                <a:cs typeface="Times New Roman" panose="02020603050405020304" pitchFamily="18" charset="0"/>
              </a:rPr>
              <a:t>Fact finding methods.</a:t>
            </a:r>
            <a:endParaRPr lang="en-UG"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4913466-AF00-0555-19A6-237D61239EBB}"/>
              </a:ext>
            </a:extLst>
          </p:cNvPr>
          <p:cNvSpPr>
            <a:spLocks noGrp="1"/>
          </p:cNvSpPr>
          <p:nvPr>
            <p:ph idx="1"/>
          </p:nvPr>
        </p:nvSpPr>
        <p:spPr>
          <a:xfrm>
            <a:off x="838200" y="1032386"/>
            <a:ext cx="10515600" cy="5460487"/>
          </a:xfrm>
        </p:spPr>
        <p:txBody>
          <a:bodyPr>
            <a:normAutofit lnSpcReduction="10000"/>
          </a:bodyPr>
          <a:lstStyle/>
          <a:p>
            <a:pPr marL="0" indent="0">
              <a:buNone/>
            </a:pPr>
            <a:r>
              <a:rPr lang="en-US" sz="1800" b="1" dirty="0">
                <a:latin typeface="Times New Roman" panose="02020603050405020304" pitchFamily="18" charset="0"/>
                <a:cs typeface="Times New Roman" panose="02020603050405020304" pitchFamily="18" charset="0"/>
              </a:rPr>
              <a:t>Define.</a:t>
            </a:r>
            <a:r>
              <a:rPr lang="en-US" sz="1800" dirty="0">
                <a:latin typeface="Times New Roman" panose="02020603050405020304" pitchFamily="18" charset="0"/>
                <a:cs typeface="Times New Roman" panose="02020603050405020304" pitchFamily="18" charset="0"/>
              </a:rPr>
              <a:t> </a:t>
            </a:r>
          </a:p>
          <a:p>
            <a:pPr marL="0" indent="0">
              <a:buNone/>
            </a:pPr>
            <a:r>
              <a:rPr lang="en-US" sz="1800" dirty="0">
                <a:latin typeface="Times New Roman" panose="02020603050405020304" pitchFamily="18" charset="0"/>
                <a:cs typeface="Times New Roman" panose="02020603050405020304" pitchFamily="18" charset="0"/>
              </a:rPr>
              <a:t>Specific techniques used by analyst's for collecting data about the system requirements. These include the following;</a:t>
            </a:r>
          </a:p>
          <a:p>
            <a:pPr marL="514350" indent="-514350">
              <a:buFont typeface="+mj-lt"/>
              <a:buAutoNum type="alphaLcParenR"/>
            </a:pPr>
            <a:r>
              <a:rPr lang="en-US" sz="1800" b="1" dirty="0">
                <a:latin typeface="Times New Roman" panose="02020603050405020304" pitchFamily="18" charset="0"/>
                <a:cs typeface="Times New Roman" panose="02020603050405020304" pitchFamily="18" charset="0"/>
              </a:rPr>
              <a:t>Interview </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Analysts use interviews for collecting information from individuals or groups. The respondents are generally the current users of the existing system or potential users of the proposed system</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Best source for qualitative information (Opinions, Policies and subjective description of activities and problems).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Helpful for getting information from individuals who do not communicate effectively in writing.</a:t>
            </a:r>
          </a:p>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Steps for conducting interviews;</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Determine the number of people to be interviewed</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Establish objectives for the interview</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Inform the respondent about  the objectives  for the interview</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Develop interview question</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Document your findings</a:t>
            </a:r>
          </a:p>
          <a:p>
            <a:pPr marL="0" indent="0">
              <a:buNone/>
            </a:pPr>
            <a:endParaRPr lang="en-UG" sz="1800" dirty="0"/>
          </a:p>
        </p:txBody>
      </p:sp>
    </p:spTree>
    <p:extLst>
      <p:ext uri="{BB962C8B-B14F-4D97-AF65-F5344CB8AC3E}">
        <p14:creationId xmlns:p14="http://schemas.microsoft.com/office/powerpoint/2010/main" val="3083247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F129-09EE-4D74-7FD1-DE0AC45A0334}"/>
              </a:ext>
            </a:extLst>
          </p:cNvPr>
          <p:cNvSpPr>
            <a:spLocks noGrp="1"/>
          </p:cNvSpPr>
          <p:nvPr>
            <p:ph type="title"/>
          </p:nvPr>
        </p:nvSpPr>
        <p:spPr>
          <a:xfrm>
            <a:off x="838200" y="365126"/>
            <a:ext cx="10515600" cy="585370"/>
          </a:xfrm>
        </p:spPr>
        <p:txBody>
          <a:bodyPr>
            <a:normAutofit/>
          </a:bodyPr>
          <a:lstStyle/>
          <a:p>
            <a:r>
              <a:rPr lang="en-US" sz="1800" dirty="0">
                <a:latin typeface="Times New Roman" panose="02020603050405020304" pitchFamily="18" charset="0"/>
                <a:cs typeface="Times New Roman" panose="02020603050405020304" pitchFamily="18" charset="0"/>
              </a:rPr>
              <a:t>b) </a:t>
            </a:r>
            <a:r>
              <a:rPr lang="en-US" sz="1800" b="1" dirty="0">
                <a:latin typeface="Times New Roman" panose="02020603050405020304" pitchFamily="18" charset="0"/>
                <a:cs typeface="Times New Roman" panose="02020603050405020304" pitchFamily="18" charset="0"/>
              </a:rPr>
              <a:t>Questionnaire</a:t>
            </a:r>
            <a:endParaRPr lang="en-UG"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6D53E1-41A7-1EA8-50E8-7DF6ED3DAC23}"/>
              </a:ext>
            </a:extLst>
          </p:cNvPr>
          <p:cNvSpPr>
            <a:spLocks noGrp="1"/>
          </p:cNvSpPr>
          <p:nvPr>
            <p:ph idx="1"/>
          </p:nvPr>
        </p:nvSpPr>
        <p:spPr>
          <a:xfrm>
            <a:off x="838200" y="950496"/>
            <a:ext cx="10515600" cy="3777915"/>
          </a:xfrm>
        </p:spPr>
        <p:txBody>
          <a:bodyPr>
            <a:normAutofit/>
          </a:bodyPr>
          <a:lstStyle/>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involves use of standardized  question formats distributed to a wide number of respondents  to answer.</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Allows analysts to collect information about various aspects of a system from large number of people.</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Its appropriate for electing factual information.</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NOTE:  Questionnaires should be;</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Open-ended questions</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Most easily understood by respondents</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Recipients should be selected for the information they can provide. </a:t>
            </a:r>
            <a:endParaRPr lang="en-UG"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946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02DB1-A9CE-F72C-6C08-1B3C3F9FEDF8}"/>
              </a:ext>
            </a:extLst>
          </p:cNvPr>
          <p:cNvSpPr>
            <a:spLocks noGrp="1"/>
          </p:cNvSpPr>
          <p:nvPr>
            <p:ph type="title"/>
          </p:nvPr>
        </p:nvSpPr>
        <p:spPr>
          <a:xfrm>
            <a:off x="838200" y="926432"/>
            <a:ext cx="10515600" cy="866272"/>
          </a:xfrm>
        </p:spPr>
        <p:txBody>
          <a:bodyPr>
            <a:normAutofit/>
          </a:bodyPr>
          <a:lstStyle/>
          <a:p>
            <a:r>
              <a:rPr lang="en-US" sz="1800" dirty="0">
                <a:latin typeface="Times New Roman" panose="02020603050405020304" pitchFamily="18" charset="0"/>
                <a:cs typeface="Times New Roman" panose="02020603050405020304" pitchFamily="18" charset="0"/>
              </a:rPr>
              <a:t>c) </a:t>
            </a:r>
            <a:r>
              <a:rPr lang="en-US" sz="1800" b="1" dirty="0">
                <a:latin typeface="Times New Roman" panose="02020603050405020304" pitchFamily="18" charset="0"/>
                <a:cs typeface="Times New Roman" panose="02020603050405020304" pitchFamily="18" charset="0"/>
              </a:rPr>
              <a:t>Documentation/ Record review </a:t>
            </a:r>
            <a:endParaRPr lang="en-UG"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343E3C-0B0F-99B4-5CD4-4E45E4FFF0AC}"/>
              </a:ext>
            </a:extLst>
          </p:cNvPr>
          <p:cNvSpPr>
            <a:spLocks noGrp="1"/>
          </p:cNvSpPr>
          <p:nvPr>
            <p:ph idx="1"/>
          </p:nvPr>
        </p:nvSpPr>
        <p:spPr>
          <a:xfrm>
            <a:off x="838200" y="1792705"/>
            <a:ext cx="10515600" cy="304399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These records include  Written Policies, User Manuals, Regulations, Standard Operating Procedures used by the organization. </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Records and reports provide analysts with valuable information about organization and operations of the company.</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 record review, analysts examine information that has been recorded about the system and user.</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Record inspection can be performed at the beginning of the study as an introduction or later in the study as basis for comparing actual operation.</a:t>
            </a:r>
          </a:p>
          <a:p>
            <a:endParaRPr lang="en-UG"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69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9E633-874B-5DBC-60C5-BE17D27D2299}"/>
              </a:ext>
            </a:extLst>
          </p:cNvPr>
          <p:cNvSpPr>
            <a:spLocks noGrp="1"/>
          </p:cNvSpPr>
          <p:nvPr>
            <p:ph type="title"/>
          </p:nvPr>
        </p:nvSpPr>
        <p:spPr>
          <a:xfrm>
            <a:off x="838200" y="365125"/>
            <a:ext cx="10515600" cy="561307"/>
          </a:xfrm>
        </p:spPr>
        <p:txBody>
          <a:bodyPr>
            <a:normAutofit/>
          </a:bodyPr>
          <a:lstStyle/>
          <a:p>
            <a:r>
              <a:rPr lang="en-US" sz="1800" dirty="0">
                <a:latin typeface="Times New Roman" panose="02020603050405020304" pitchFamily="18" charset="0"/>
                <a:cs typeface="Times New Roman" panose="02020603050405020304" pitchFamily="18" charset="0"/>
              </a:rPr>
              <a:t>d</a:t>
            </a:r>
            <a:r>
              <a:rPr lang="en-US" sz="1800" b="1" dirty="0">
                <a:latin typeface="Times New Roman" panose="02020603050405020304" pitchFamily="18" charset="0"/>
                <a:cs typeface="Times New Roman" panose="02020603050405020304" pitchFamily="18" charset="0"/>
              </a:rPr>
              <a:t>)  Observations</a:t>
            </a:r>
            <a:endParaRPr lang="en-UG"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806605-744E-D386-79D4-00A3B0C16D48}"/>
              </a:ext>
            </a:extLst>
          </p:cNvPr>
          <p:cNvSpPr>
            <a:spLocks noGrp="1"/>
          </p:cNvSpPr>
          <p:nvPr>
            <p:ph idx="1"/>
          </p:nvPr>
        </p:nvSpPr>
        <p:spPr>
          <a:xfrm>
            <a:off x="838200" y="1167063"/>
            <a:ext cx="10515600" cy="182880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Observation allows analysts to gain information they can not obtain through other fact-finding methods.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Through observation analyst can obtain first hand information about how activities are carried out.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It's very important when analyst needs to actually observe how documents are handled, how process are carried out, observers know what to for and how to assess significance of what they observe. </a:t>
            </a:r>
            <a:endParaRPr lang="en-UG"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1341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83E9C-4C5B-739F-E589-0B91C08B638F}"/>
              </a:ext>
            </a:extLst>
          </p:cNvPr>
          <p:cNvSpPr>
            <a:spLocks noGrp="1"/>
          </p:cNvSpPr>
          <p:nvPr>
            <p:ph type="title"/>
          </p:nvPr>
        </p:nvSpPr>
        <p:spPr>
          <a:xfrm>
            <a:off x="838200" y="365125"/>
            <a:ext cx="10515600" cy="1728370"/>
          </a:xfrm>
        </p:spPr>
        <p:txBody>
          <a:bodyPr>
            <a:normAutofit/>
          </a:bodyPr>
          <a:lstStyle/>
          <a:p>
            <a:r>
              <a:rPr lang="en-US" sz="2800" b="1" dirty="0">
                <a:latin typeface="Times New Roman" panose="02020603050405020304" pitchFamily="18" charset="0"/>
                <a:cs typeface="Times New Roman" panose="02020603050405020304" pitchFamily="18" charset="0"/>
              </a:rPr>
              <a:t>System Requirement Checklist</a:t>
            </a:r>
            <a:br>
              <a:rPr lang="en-US" sz="2800" dirty="0"/>
            </a:br>
            <a:r>
              <a:rPr lang="en-US" sz="1800" dirty="0">
                <a:latin typeface="Times New Roman" panose="02020603050405020304" pitchFamily="18" charset="0"/>
                <a:cs typeface="Times New Roman" panose="02020603050405020304" pitchFamily="18" charset="0"/>
              </a:rPr>
              <a:t>Define: A structured document used during initial phase of a project to ensure that all necessary technical , functional, and operational needs are identified before development begins.</a:t>
            </a:r>
            <a:endParaRPr lang="en-UG" sz="2800" dirty="0"/>
          </a:p>
        </p:txBody>
      </p:sp>
      <p:sp>
        <p:nvSpPr>
          <p:cNvPr id="3" name="Content Placeholder 2">
            <a:extLst>
              <a:ext uri="{FF2B5EF4-FFF2-40B4-BE49-F238E27FC236}">
                <a16:creationId xmlns:a16="http://schemas.microsoft.com/office/drawing/2014/main" id="{839001A1-9A19-F33A-5523-A6441658F22F}"/>
              </a:ext>
            </a:extLst>
          </p:cNvPr>
          <p:cNvSpPr>
            <a:spLocks noGrp="1"/>
          </p:cNvSpPr>
          <p:nvPr>
            <p:ph idx="1"/>
          </p:nvPr>
        </p:nvSpPr>
        <p:spPr>
          <a:xfrm>
            <a:off x="838200" y="2093495"/>
            <a:ext cx="10515600" cy="4307305"/>
          </a:xfrm>
        </p:spPr>
        <p:txBody>
          <a:bodyPr>
            <a:normAutofit/>
          </a:bodyPr>
          <a:lstStyle/>
          <a:p>
            <a:pPr marL="342900" indent="-342900">
              <a:buFont typeface="+mj-lt"/>
              <a:buAutoNum type="alphaLcParenR"/>
            </a:pPr>
            <a:r>
              <a:rPr lang="en-US" sz="1800" b="1" dirty="0">
                <a:latin typeface="Times New Roman" panose="02020603050405020304" pitchFamily="18" charset="0"/>
                <a:cs typeface="Times New Roman" panose="02020603050405020304" pitchFamily="18" charset="0"/>
              </a:rPr>
              <a:t>Input </a:t>
            </a:r>
          </a:p>
          <a:p>
            <a:pPr marL="0" indent="0">
              <a:buNone/>
            </a:pPr>
            <a:r>
              <a:rPr lang="en-US" sz="1800" dirty="0">
                <a:latin typeface="Times New Roman" panose="02020603050405020304" pitchFamily="18" charset="0"/>
                <a:cs typeface="Times New Roman" panose="02020603050405020304" pitchFamily="18" charset="0"/>
              </a:rPr>
              <a:t>This describes what the system should input.</a:t>
            </a:r>
          </a:p>
          <a:p>
            <a:pPr marL="0" indent="0">
              <a:buNone/>
            </a:pPr>
            <a:r>
              <a:rPr lang="en-US" sz="1800" dirty="0">
                <a:latin typeface="Times New Roman" panose="02020603050405020304" pitchFamily="18" charset="0"/>
                <a:cs typeface="Times New Roman" panose="02020603050405020304" pitchFamily="18" charset="0"/>
              </a:rPr>
              <a:t>For example;-</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Employees Swipe ID cards into attendance tracking system for signing In and Out.</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Department heads must enter overtime hours on a sperate screen. </a:t>
            </a:r>
          </a:p>
          <a:p>
            <a:pPr>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b) </a:t>
            </a:r>
            <a:r>
              <a:rPr lang="en-US" sz="1800" b="1" dirty="0">
                <a:latin typeface="Times New Roman" panose="02020603050405020304" pitchFamily="18" charset="0"/>
                <a:cs typeface="Times New Roman" panose="02020603050405020304" pitchFamily="18" charset="0"/>
              </a:rPr>
              <a:t>Output/Print</a:t>
            </a:r>
          </a:p>
          <a:p>
            <a:pPr marL="0" indent="0">
              <a:buNone/>
            </a:pPr>
            <a:r>
              <a:rPr lang="en-US" sz="1800" dirty="0">
                <a:latin typeface="Times New Roman" panose="02020603050405020304" pitchFamily="18" charset="0"/>
                <a:cs typeface="Times New Roman" panose="02020603050405020304" pitchFamily="18" charset="0"/>
              </a:rPr>
              <a:t>Describes outputs of the system.</a:t>
            </a:r>
          </a:p>
          <a:p>
            <a:pPr marL="0" indent="0">
              <a:buNone/>
            </a:pPr>
            <a:r>
              <a:rPr lang="en-US" sz="1800" dirty="0">
                <a:latin typeface="Times New Roman" panose="02020603050405020304" pitchFamily="18" charset="0"/>
                <a:cs typeface="Times New Roman" panose="02020603050405020304" pitchFamily="18" charset="0"/>
              </a:rPr>
              <a:t>For example;-</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Inventory management system must produce a daily report showing the Description, Quantity available, Quantity allocated, Unit cost etc.</a:t>
            </a:r>
          </a:p>
          <a:p>
            <a:pPr marL="0" indent="0">
              <a:buNone/>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8955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3C404-C72F-D7B9-AF92-E53A0B89F968}"/>
              </a:ext>
            </a:extLst>
          </p:cNvPr>
          <p:cNvSpPr>
            <a:spLocks noGrp="1"/>
          </p:cNvSpPr>
          <p:nvPr>
            <p:ph type="title"/>
          </p:nvPr>
        </p:nvSpPr>
        <p:spPr>
          <a:xfrm>
            <a:off x="838200" y="365125"/>
            <a:ext cx="10515600" cy="477085"/>
          </a:xfrm>
        </p:spPr>
        <p:txBody>
          <a:bodyPr>
            <a:normAutofit/>
          </a:bodyPr>
          <a:lstStyle/>
          <a:p>
            <a:r>
              <a:rPr lang="en-US" sz="1800" dirty="0">
                <a:latin typeface="Times New Roman" panose="02020603050405020304" pitchFamily="18" charset="0"/>
                <a:cs typeface="Times New Roman" panose="02020603050405020304" pitchFamily="18" charset="0"/>
              </a:rPr>
              <a:t>  c) </a:t>
            </a:r>
            <a:r>
              <a:rPr lang="en-US" sz="1800" b="1" dirty="0">
                <a:latin typeface="Times New Roman" panose="02020603050405020304" pitchFamily="18" charset="0"/>
                <a:cs typeface="Times New Roman" panose="02020603050405020304" pitchFamily="18" charset="0"/>
              </a:rPr>
              <a:t>Processes</a:t>
            </a:r>
            <a:endParaRPr lang="en-UG"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B3AB4D-E593-531D-05FB-5E8EE41CBBA3}"/>
              </a:ext>
            </a:extLst>
          </p:cNvPr>
          <p:cNvSpPr>
            <a:spLocks noGrp="1"/>
          </p:cNvSpPr>
          <p:nvPr>
            <p:ph idx="1"/>
          </p:nvPr>
        </p:nvSpPr>
        <p:spPr>
          <a:xfrm>
            <a:off x="982579" y="998622"/>
            <a:ext cx="10515600" cy="5515142"/>
          </a:xfrm>
        </p:spPr>
        <p:txBody>
          <a:bodyPr>
            <a:normAutofit fontScale="92500" lnSpcReduction="10000"/>
          </a:bodyPr>
          <a:lstStyle/>
          <a:p>
            <a:pPr marL="0" indent="0">
              <a:buNone/>
            </a:pPr>
            <a:r>
              <a:rPr lang="en-US" sz="1800" dirty="0">
                <a:latin typeface="Times New Roman" panose="02020603050405020304" pitchFamily="18" charset="0"/>
                <a:cs typeface="Times New Roman" panose="02020603050405020304" pitchFamily="18" charset="0"/>
              </a:rPr>
              <a:t>For example;-</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 pay roll system must update employees' salaries, bonus, benefits and produce tax data as required.</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 student record system must calculate the GPA at the end of semester. </a:t>
            </a:r>
          </a:p>
          <a:p>
            <a:pPr>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d) </a:t>
            </a:r>
            <a:r>
              <a:rPr lang="en-US" sz="1800" b="1" dirty="0">
                <a:latin typeface="Times New Roman" panose="02020603050405020304" pitchFamily="18" charset="0"/>
                <a:cs typeface="Times New Roman" panose="02020603050405020304" pitchFamily="18" charset="0"/>
              </a:rPr>
              <a:t>Performances</a:t>
            </a:r>
          </a:p>
          <a:p>
            <a:pPr marL="0" indent="0">
              <a:buNone/>
            </a:pPr>
            <a:r>
              <a:rPr lang="en-US" sz="1800" dirty="0">
                <a:latin typeface="Times New Roman" panose="02020603050405020304" pitchFamily="18" charset="0"/>
                <a:cs typeface="Times New Roman" panose="02020603050405020304" pitchFamily="18" charset="0"/>
              </a:rPr>
              <a:t>For example;-</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system must be up 24/7</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Response time must not exceed four seconds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system must 25 users online simultaneously</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e</a:t>
            </a:r>
            <a:r>
              <a:rPr lang="en-US" sz="1800" b="1" dirty="0">
                <a:latin typeface="Times New Roman" panose="02020603050405020304" pitchFamily="18" charset="0"/>
                <a:cs typeface="Times New Roman" panose="02020603050405020304" pitchFamily="18" charset="0"/>
              </a:rPr>
              <a:t>) Control </a:t>
            </a:r>
          </a:p>
          <a:p>
            <a:pPr marL="0" indent="0">
              <a:buNone/>
            </a:pPr>
            <a:r>
              <a:rPr lang="en-US" sz="1800" dirty="0">
                <a:latin typeface="Times New Roman" panose="02020603050405020304" pitchFamily="18" charset="0"/>
                <a:cs typeface="Times New Roman" panose="02020603050405020304" pitchFamily="18" charset="0"/>
              </a:rPr>
              <a:t>Something to do with limiting accesses or having user name and password.</a:t>
            </a:r>
          </a:p>
          <a:p>
            <a:pPr marL="0" indent="0">
              <a:buNone/>
            </a:pPr>
            <a:r>
              <a:rPr lang="en-US" sz="1800" dirty="0">
                <a:latin typeface="Times New Roman" panose="02020603050405020304" pitchFamily="18" charset="0"/>
                <a:cs typeface="Times New Roman" panose="02020603050405020304" pitchFamily="18" charset="0"/>
              </a:rPr>
              <a:t>For example;-</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system must provide log in security at the operating level and at application level</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Employee records must be added, changed or deleted by a member of human resource department.</a:t>
            </a:r>
          </a:p>
          <a:p>
            <a:pPr marL="0" indent="0">
              <a:buNone/>
            </a:pPr>
            <a:endParaRPr lang="en-UG"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532253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1405</TotalTime>
  <Words>627</Words>
  <Application>Microsoft Office PowerPoint</Application>
  <PresentationFormat>Widescreen</PresentationFormat>
  <Paragraphs>70</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Century Gothic</vt:lpstr>
      <vt:lpstr>Times New Roman</vt:lpstr>
      <vt:lpstr>Wingdings</vt:lpstr>
      <vt:lpstr>Wingdings 3</vt:lpstr>
      <vt:lpstr>Wisp</vt:lpstr>
      <vt:lpstr>GROUP 2:  SYSTEM ANALYSIS AND DESIGN PRESENTATION</vt:lpstr>
      <vt:lpstr>Fact finding methods.</vt:lpstr>
      <vt:lpstr>b) Questionnaire</vt:lpstr>
      <vt:lpstr>c) Documentation/ Record review </vt:lpstr>
      <vt:lpstr>d)  Observations</vt:lpstr>
      <vt:lpstr>System Requirement Checklist Define: A structured document used during initial phase of a project to ensure that all necessary technical , functional, and operational needs are identified before development begins.</vt:lpstr>
      <vt:lpstr>  c) Processes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chandiga siraji</dc:creator>
  <cp:lastModifiedBy>chandiga siraji</cp:lastModifiedBy>
  <cp:revision>5</cp:revision>
  <dcterms:created xsi:type="dcterms:W3CDTF">2026-03-07T14:20:16Z</dcterms:created>
  <dcterms:modified xsi:type="dcterms:W3CDTF">2026-03-08T13:45:33Z</dcterms:modified>
</cp:coreProperties>
</file>